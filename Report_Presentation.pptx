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60" r:id="rId3"/>
    <p:sldId id="261" r:id="rId4"/>
    <p:sldId id="274" r:id="rId5"/>
    <p:sldId id="275" r:id="rId6"/>
    <p:sldId id="264" r:id="rId7"/>
    <p:sldId id="262" r:id="rId8"/>
    <p:sldId id="270" r:id="rId9"/>
    <p:sldId id="271" r:id="rId10"/>
    <p:sldId id="272" r:id="rId11"/>
    <p:sldId id="273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2994" autoAdjust="0"/>
  </p:normalViewPr>
  <p:slideViewPr>
    <p:cSldViewPr snapToGrid="0">
      <p:cViewPr varScale="1">
        <p:scale>
          <a:sx n="61" d="100"/>
          <a:sy n="61" d="100"/>
        </p:scale>
        <p:origin x="84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69CB9-6D12-498B-BF2B-69FAD28D1533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FB7C4ED-A257-41F3-81A5-C00622E9B70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66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69CB9-6D12-498B-BF2B-69FAD28D1533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C4ED-A257-41F3-81A5-C00622E9B703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901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69CB9-6D12-498B-BF2B-69FAD28D1533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C4ED-A257-41F3-81A5-C00622E9B70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7672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69CB9-6D12-498B-BF2B-69FAD28D1533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C4ED-A257-41F3-81A5-C00622E9B703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68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69CB9-6D12-498B-BF2B-69FAD28D1533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C4ED-A257-41F3-81A5-C00622E9B703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2716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69CB9-6D12-498B-BF2B-69FAD28D1533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C4ED-A257-41F3-81A5-C00622E9B703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202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69CB9-6D12-498B-BF2B-69FAD28D1533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C4ED-A257-41F3-81A5-C00622E9B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047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69CB9-6D12-498B-BF2B-69FAD28D1533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C4ED-A257-41F3-81A5-C00622E9B703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008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D369CB9-6D12-498B-BF2B-69FAD28D1533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C4ED-A257-41F3-81A5-C00622E9B703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099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69CB9-6D12-498B-BF2B-69FAD28D1533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C4ED-A257-41F3-81A5-C00622E9B703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2510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69CB9-6D12-498B-BF2B-69FAD28D1533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C4ED-A257-41F3-81A5-C00622E9B70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1798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69CB9-6D12-498B-BF2B-69FAD28D1533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FB7C4ED-A257-41F3-81A5-C00622E9B70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749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1562F-1754-08CE-531F-7B1925BFC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453" y="271460"/>
            <a:ext cx="11357277" cy="1530690"/>
          </a:xfrm>
        </p:spPr>
        <p:txBody>
          <a:bodyPr>
            <a:normAutofit/>
          </a:bodyPr>
          <a:lstStyle/>
          <a:p>
            <a:pPr algn="ctr"/>
            <a:r>
              <a:rPr lang="en-US" sz="4800" b="1" u="sng" dirty="0"/>
              <a:t>Purchase Pattern Analytics</a:t>
            </a:r>
            <a:endParaRPr lang="en-IN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A531D-14BB-5924-D01D-35A5BFCD30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3910" y="3741629"/>
            <a:ext cx="10686361" cy="3280103"/>
          </a:xfrm>
        </p:spPr>
        <p:txBody>
          <a:bodyPr>
            <a:normAutofit/>
          </a:bodyPr>
          <a:lstStyle/>
          <a:p>
            <a:r>
              <a:rPr lang="en-IN" sz="3300" b="1" dirty="0">
                <a:latin typeface="+mn-lt"/>
              </a:rPr>
              <a:t>Presented By</a:t>
            </a:r>
          </a:p>
          <a:p>
            <a:r>
              <a:rPr lang="en-IN" sz="3300" b="1" dirty="0">
                <a:latin typeface="+mn-lt"/>
              </a:rPr>
              <a:t>Vikas</a:t>
            </a:r>
          </a:p>
          <a:p>
            <a:endParaRPr lang="en-IN" sz="2800" b="1" dirty="0">
              <a:latin typeface="+mn-lt"/>
            </a:endParaRPr>
          </a:p>
          <a:p>
            <a:endParaRPr lang="en-IN" sz="8000" b="1" dirty="0">
              <a:latin typeface="+mn-lt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7313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B7157-769C-5DB3-3A7A-F66A82734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 </a:t>
            </a:r>
            <a:r>
              <a:rPr lang="en-US" b="1" u="sng" dirty="0"/>
              <a:t>Project Objective</a:t>
            </a:r>
            <a:br>
              <a:rPr lang="en-US" b="1" u="sng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38146D-DCF8-7CCA-7F19-628A5E52FF1C}"/>
              </a:ext>
            </a:extLst>
          </p:cNvPr>
          <p:cNvSpPr txBox="1"/>
          <p:nvPr/>
        </p:nvSpPr>
        <p:spPr>
          <a:xfrm>
            <a:off x="5638800" y="297397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449A05-3086-0E78-9FAE-103262B1D025}"/>
              </a:ext>
            </a:extLst>
          </p:cNvPr>
          <p:cNvSpPr txBox="1"/>
          <p:nvPr/>
        </p:nvSpPr>
        <p:spPr>
          <a:xfrm flipH="1" flipV="1">
            <a:off x="973667" y="4927600"/>
            <a:ext cx="220133" cy="736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2456D5-DF27-D7DE-5E4C-2FB4BA949098}"/>
              </a:ext>
            </a:extLst>
          </p:cNvPr>
          <p:cNvSpPr txBox="1"/>
          <p:nvPr/>
        </p:nvSpPr>
        <p:spPr>
          <a:xfrm>
            <a:off x="829734" y="1828800"/>
            <a:ext cx="1038859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 </a:t>
            </a:r>
            <a:r>
              <a:rPr lang="en-US" altLang="en-US" dirty="0"/>
              <a:t>Leverage Market Basket Analysis (MBA) to uncover relationships between products in a retail transaction dataset.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 Conduct exploratory data analysis (EDA) to understand key statistics, detect data quality issues, and visualize patterns.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 Implement the Apriori algorithm to identify frequent item sets and generate association rules.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 Clean and transform the dataset for market basket analysis, addressing missing values, outliers, and inconsistencies.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 Derive actionable insights and recommendations to enhance sales strategies and improve customer satisfaction.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55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9A5C0-91E7-8DA2-31A1-8A671BD7D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/>
              <a:t>Dataset Overview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839246-0F4C-1DB9-B3C5-F4685936C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 rot="16200000">
            <a:off x="4185074" y="-967739"/>
            <a:ext cx="4004735" cy="993647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b="1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Data Source:</a:t>
            </a:r>
            <a:r>
              <a:rPr lang="en-US" altLang="en-US" sz="1800" dirty="0">
                <a:solidFill>
                  <a:schemeClr val="tx1"/>
                </a:solidFill>
              </a:rPr>
              <a:t> Retail Transaction Dataset (50,000 entries)</a:t>
            </a:r>
            <a:br>
              <a:rPr lang="en-US" altLang="en-US" sz="1800" dirty="0">
                <a:solidFill>
                  <a:schemeClr val="tx1"/>
                </a:solidFill>
              </a:rPr>
            </a:br>
            <a:r>
              <a:rPr lang="en-US" altLang="en-US" sz="1800" b="1" dirty="0">
                <a:solidFill>
                  <a:schemeClr val="tx1"/>
                </a:solidFill>
              </a:rPr>
              <a:t>Key Variables: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/>
                </a:solidFill>
              </a:rPr>
              <a:t>Itemname:</a:t>
            </a:r>
            <a:r>
              <a:rPr lang="en-US" altLang="en-US" sz="1600" dirty="0">
                <a:solidFill>
                  <a:schemeClr val="tx1"/>
                </a:solidFill>
              </a:rPr>
              <a:t> Name of the purchased product.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/>
                </a:solidFill>
              </a:rPr>
              <a:t>Quantity:</a:t>
            </a:r>
            <a:r>
              <a:rPr lang="en-US" altLang="en-US" sz="1600" dirty="0">
                <a:solidFill>
                  <a:schemeClr val="tx1"/>
                </a:solidFill>
              </a:rPr>
              <a:t> Number of units bought per transaction.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/>
                </a:solidFill>
              </a:rPr>
              <a:t>Present_Date:</a:t>
            </a:r>
            <a:r>
              <a:rPr lang="en-US" altLang="en-US" sz="1600" dirty="0">
                <a:solidFill>
                  <a:schemeClr val="tx1"/>
                </a:solidFill>
              </a:rPr>
              <a:t> Date on which the transaction occurred.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/>
                </a:solidFill>
              </a:rPr>
              <a:t>Price:</a:t>
            </a:r>
            <a:r>
              <a:rPr lang="en-US" altLang="en-US" sz="1600" dirty="0">
                <a:solidFill>
                  <a:schemeClr val="tx1"/>
                </a:solidFill>
              </a:rPr>
              <a:t> Unit price of the item purchased.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/>
                </a:solidFill>
              </a:rPr>
              <a:t>Country:</a:t>
            </a:r>
            <a:r>
              <a:rPr lang="en-US" altLang="en-US" sz="1600" dirty="0">
                <a:solidFill>
                  <a:schemeClr val="tx1"/>
                </a:solidFill>
              </a:rPr>
              <a:t> Country where the transaction took place.</a:t>
            </a:r>
          </a:p>
          <a:p>
            <a:pPr marL="20116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6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Description:</a:t>
            </a:r>
            <a:br>
              <a:rPr lang="en-US" altLang="en-US" sz="1800" dirty="0">
                <a:solidFill>
                  <a:schemeClr val="tx1"/>
                </a:solidFill>
              </a:rPr>
            </a:br>
            <a:r>
              <a:rPr lang="en-US" altLang="en-US" sz="1800" dirty="0">
                <a:solidFill>
                  <a:schemeClr val="tx1"/>
                </a:solidFill>
              </a:rPr>
              <a:t>The dataset consists of 50,000 retail transaction records capturing customer purchase behavior across various products and regions. It was extracted from the company’s sales system and imported into the </a:t>
            </a:r>
            <a:r>
              <a:rPr lang="en-US" altLang="en-US" sz="1800" b="1" dirty="0">
                <a:solidFill>
                  <a:schemeClr val="tx1"/>
                </a:solidFill>
              </a:rPr>
              <a:t>local environment</a:t>
            </a:r>
            <a:r>
              <a:rPr lang="en-US" altLang="en-US" sz="1800" dirty="0">
                <a:solidFill>
                  <a:schemeClr val="tx1"/>
                </a:solidFill>
              </a:rPr>
              <a:t> for further </a:t>
            </a:r>
            <a:r>
              <a:rPr lang="en-US" altLang="en-US" sz="1800" b="1" dirty="0">
                <a:solidFill>
                  <a:schemeClr val="tx1"/>
                </a:solidFill>
              </a:rPr>
              <a:t>data exploration, visualization, and Market Basket Analysis (MBA)</a:t>
            </a:r>
            <a:r>
              <a:rPr lang="en-US" altLang="en-US" sz="1800" dirty="0">
                <a:solidFill>
                  <a:schemeClr val="tx1"/>
                </a:solidFill>
              </a:rPr>
              <a:t>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76533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5B1E7-B771-106F-B048-D7623C4CF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Data Preprocessing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B7779C-519E-F76C-A662-294A275E0E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9513" y="2301995"/>
            <a:ext cx="1026740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Remove Duplicates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Identified and removed duplicate rows, resetting the index.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Standardize Columns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Stripped whitespace and normalized values in '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Itemname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' and 'Country'. Filled missing '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Itemname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' with 'Unknown’.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Handle Missing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Filled missing '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CustomerID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' with 0 (nullable integer) and converted it to integer type. Parsed '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Present_Date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' to datetime, handling errors.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Remove Invalid Entries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Filtered out rows with invalid or non-positive values in 'Quantity' and 'Price'.</a:t>
            </a:r>
          </a:p>
        </p:txBody>
      </p:sp>
    </p:spTree>
    <p:extLst>
      <p:ext uri="{BB962C8B-B14F-4D97-AF65-F5344CB8AC3E}">
        <p14:creationId xmlns:p14="http://schemas.microsoft.com/office/powerpoint/2010/main" val="2728821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7B5BE-DB71-EE0A-B4E2-305DA08B6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1" y="573164"/>
            <a:ext cx="9603275" cy="836995"/>
          </a:xfrm>
        </p:spPr>
        <p:txBody>
          <a:bodyPr/>
          <a:lstStyle/>
          <a:p>
            <a:pPr algn="ctr"/>
            <a:r>
              <a:rPr lang="en-US" b="1" u="sng" dirty="0"/>
              <a:t>Apriori Analysis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E64AE1C-5A17-2936-ED57-58DE583A34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1" y="2149254"/>
            <a:ext cx="1020399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Preparation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Converted transaction data into a suitable format (e.g., one-hot encoded basket of items per transaction).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Frequent Itemsets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Applied the Apriori algorithm to find item combinations with support above a defined threshold.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Association Rules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Generated rules from frequent itemsets using metrics like confidence and lift to measure strength and relevance.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Insights Extraction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Interpreted strong rules to identify product relationships, co-purchase patterns, and actionable business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504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48892-6B96-BE26-A762-D5EFDE76A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781910"/>
          </a:xfrm>
        </p:spPr>
        <p:txBody>
          <a:bodyPr/>
          <a:lstStyle/>
          <a:p>
            <a:pPr algn="ctr"/>
            <a:r>
              <a:rPr lang="en-US" b="1" u="sng" dirty="0"/>
              <a:t>Rules vs sum of lift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1D3AF-2ACF-8238-71AE-F049CF15FA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972626-A7AF-76CC-D636-FC7FB57F8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72" y="1977950"/>
            <a:ext cx="8986345" cy="376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361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B7721-8ABB-39E8-F34F-7E575FD9B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330583"/>
            <a:ext cx="9603275" cy="1049235"/>
          </a:xfrm>
        </p:spPr>
        <p:txBody>
          <a:bodyPr/>
          <a:lstStyle/>
          <a:p>
            <a:pPr algn="ctr"/>
            <a:r>
              <a:rPr lang="en-US" b="1" u="sng" dirty="0"/>
              <a:t>Sum of lift vs sum of confidence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3A440-8D66-2401-574B-0A9C7DEFBA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77028A-C671-A1B0-E00A-64F356344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8" y="2015733"/>
            <a:ext cx="9446059" cy="364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577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8F6F9-F324-0BF6-8C64-618B6E7B9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Products matrix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0676247-A8D8-8756-EB28-5DC6C49B52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3697" y="2016124"/>
            <a:ext cx="9331157" cy="391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25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AFE34-1710-BF4A-FD07-A781F427E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/>
              <a:t>Insights and findings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2B7F4-9AC8-A1AC-8C66-303140393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1853754"/>
            <a:ext cx="9603275" cy="403774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dirty="0"/>
              <a:t> 1. Customer Buying Behavior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 majority of customers purchase a small number of unique items per transaction, indicating single-purpose or impulse buying patterns and A small set of top-selling products contributes disproportionately to total sales, highlighting the Pareto (80/20) rule.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Repeat purchases cluster around certain core product categories, showing strong customer loyalty toward specific product types.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400" dirty="0"/>
              <a:t>2. Product Association Patterns (Apriori Results)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High-support rules identify commonly co-purchased items.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High-confidence rules (&gt; 0.6)show strong predictive relationships, customers buying one product are very likely to buy the related one.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400" dirty="0"/>
              <a:t>3. Transaction-Level Insights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Average basket size is small, but customers who buy bundled items tend to have higher average transaction values.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Baskets containing rule-based product pairs show a lift in average order value (AOV) of 15–30% (estimated from association rules).</a:t>
            </a:r>
          </a:p>
        </p:txBody>
      </p:sp>
    </p:spTree>
    <p:extLst>
      <p:ext uri="{BB962C8B-B14F-4D97-AF65-F5344CB8AC3E}">
        <p14:creationId xmlns:p14="http://schemas.microsoft.com/office/powerpoint/2010/main" val="3773603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20BEC-672F-7883-A0FB-ED97E2D4C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51B9D-82B6-5756-F9B5-6A2D5D0A1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/>
              <a:t>Recommendations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60E82-BBD9-7DC8-E5A3-9FC432171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92850"/>
            <a:ext cx="9603275" cy="365795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b="1" dirty="0"/>
              <a:t> 1. </a:t>
            </a:r>
            <a:r>
              <a:rPr lang="en-US" sz="1600" b="1" dirty="0"/>
              <a:t>Cross-Selling &amp; Bundling</a:t>
            </a:r>
          </a:p>
          <a:p>
            <a:pPr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Implement “Frequently Bought Together” sections in the online/retail platform based on top association rules.</a:t>
            </a:r>
          </a:p>
          <a:p>
            <a:pPr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Create bundle offers for high-lift item pairs (e.g., “Buy X, get Y at 20% off”).</a:t>
            </a:r>
          </a:p>
          <a:p>
            <a:pPr algn="just">
              <a:lnSpc>
                <a:spcPct val="120000"/>
              </a:lnSpc>
            </a:pPr>
            <a:r>
              <a:rPr lang="en-US" sz="1600" b="1" dirty="0"/>
              <a:t>2. Targeted Marketing Campaigns</a:t>
            </a:r>
          </a:p>
          <a:p>
            <a:pPr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Offer combo discounts targeting customers who purchased one item but not its paired product.</a:t>
            </a:r>
          </a:p>
          <a:p>
            <a:pPr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Leverage seasonal purchase patterns to design event-specific campaigns (e.g., festive combos, school reopening kits).</a:t>
            </a:r>
          </a:p>
          <a:p>
            <a:pPr algn="just">
              <a:lnSpc>
                <a:spcPct val="120000"/>
              </a:lnSpc>
            </a:pPr>
            <a:r>
              <a:rPr lang="en-US" sz="1600" b="1" dirty="0"/>
              <a:t>3. Inventory &amp; Merchandising Strategy</a:t>
            </a:r>
          </a:p>
          <a:p>
            <a:pPr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Prioritize stocking high-support items to prevent stockouts.</a:t>
            </a:r>
          </a:p>
          <a:p>
            <a:pPr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Reduce dead stock by bundling slow-moving items with top-sellers.</a:t>
            </a:r>
          </a:p>
        </p:txBody>
      </p:sp>
    </p:spTree>
    <p:extLst>
      <p:ext uri="{BB962C8B-B14F-4D97-AF65-F5344CB8AC3E}">
        <p14:creationId xmlns:p14="http://schemas.microsoft.com/office/powerpoint/2010/main" val="1741184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4B162-ECD4-D5EC-5316-DDEA809FA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/>
              <a:t>Conclusion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71096-E5D2-5929-903E-8743AB005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3200" dirty="0" err="1"/>
              <a:t>Apriori</a:t>
            </a:r>
            <a:r>
              <a:rPr lang="en-IN" sz="3200" dirty="0"/>
              <a:t> analysis provided clear insights into the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Predictions help in </a:t>
            </a:r>
            <a:r>
              <a:rPr lang="en-IN" sz="3200" b="1" dirty="0"/>
              <a:t>customer segregation &amp; marketing strategies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Data visualization (Tableau/Power BI) enhances decision-making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Future Scope: use the various recommendations like grouping products together.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557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30E39-82AA-C6BC-228D-5E017BFD9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latin typeface="+mn-lt"/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75FFF-8B16-B51E-75E9-3AD98962C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IN" sz="4400" dirty="0"/>
              <a:t>Thank You </a:t>
            </a:r>
          </a:p>
          <a:p>
            <a:pPr marL="0" indent="0" algn="ctr">
              <a:buNone/>
            </a:pPr>
            <a:endParaRPr lang="en-IN" sz="4000" dirty="0"/>
          </a:p>
          <a:p>
            <a:pPr marL="0" indent="0" algn="ctr">
              <a:buNone/>
            </a:pPr>
            <a:r>
              <a:rPr lang="en-IN" sz="4000" dirty="0"/>
              <a:t>Open for Questions</a:t>
            </a:r>
          </a:p>
        </p:txBody>
      </p:sp>
    </p:spTree>
    <p:extLst>
      <p:ext uri="{BB962C8B-B14F-4D97-AF65-F5344CB8AC3E}">
        <p14:creationId xmlns:p14="http://schemas.microsoft.com/office/powerpoint/2010/main" val="34973264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457</TotalTime>
  <Words>713</Words>
  <Application>Microsoft Office PowerPoint</Application>
  <PresentationFormat>Widescreen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Gallery</vt:lpstr>
      <vt:lpstr>Purchase Pattern Analytics</vt:lpstr>
      <vt:lpstr> Project Objective </vt:lpstr>
      <vt:lpstr>Dataset Overview </vt:lpstr>
      <vt:lpstr>Data Preprocessing </vt:lpstr>
      <vt:lpstr>Apriori Analysis</vt:lpstr>
      <vt:lpstr>Rules vs sum of lift</vt:lpstr>
      <vt:lpstr>Sum of lift vs sum of confidence</vt:lpstr>
      <vt:lpstr>Products matrix</vt:lpstr>
      <vt:lpstr>Insights and findings</vt:lpstr>
      <vt:lpstr>Recommendations</vt:lpstr>
      <vt:lpstr>Conclusion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Mojjada Sai Venkata Surya Prakash</dc:creator>
  <cp:lastModifiedBy>VIKAS GAIKWAD</cp:lastModifiedBy>
  <cp:revision>8</cp:revision>
  <dcterms:created xsi:type="dcterms:W3CDTF">2025-11-12T08:44:25Z</dcterms:created>
  <dcterms:modified xsi:type="dcterms:W3CDTF">2026-08-21T16:23:58Z</dcterms:modified>
</cp:coreProperties>
</file>